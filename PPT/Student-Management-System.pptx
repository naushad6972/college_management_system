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Bodoni MT" panose="02070603080606020203" pitchFamily="18" charset="0"/>
      <p:regular r:id="rId11"/>
      <p:bold r:id="rId12"/>
      <p:italic r:id="rId13"/>
      <p:boldItalic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ushad pathan" userId="99d3a6d162b3d0f1" providerId="LiveId" clId="{DA09920D-3972-46DC-81D9-6A6A147BBF39}"/>
    <pc:docChg chg="modSld">
      <pc:chgData name="naushad pathan" userId="99d3a6d162b3d0f1" providerId="LiveId" clId="{DA09920D-3972-46DC-81D9-6A6A147BBF39}" dt="2026-09-24T03:33:29.796" v="0" actId="1076"/>
      <pc:docMkLst>
        <pc:docMk/>
      </pc:docMkLst>
      <pc:sldChg chg="modSp mod">
        <pc:chgData name="naushad pathan" userId="99d3a6d162b3d0f1" providerId="LiveId" clId="{DA09920D-3972-46DC-81D9-6A6A147BBF39}" dt="2026-09-24T03:33:29.796" v="0" actId="1076"/>
        <pc:sldMkLst>
          <pc:docMk/>
          <pc:sldMk cId="0" sldId="256"/>
        </pc:sldMkLst>
        <pc:picChg chg="mod">
          <ac:chgData name="naushad pathan" userId="99d3a6d162b3d0f1" providerId="LiveId" clId="{DA09920D-3972-46DC-81D9-6A6A147BBF39}" dt="2026-09-24T03:33:29.796" v="0" actId="1076"/>
          <ac:picMkLst>
            <pc:docMk/>
            <pc:sldMk cId="0" sldId="256"/>
            <ac:picMk id="9" creationId="{8AD0362F-AABA-367C-5BB2-4657221EE2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8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35" y="116601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College Management System</a:t>
            </a:r>
            <a:endParaRPr lang="en-US" sz="2800" b="1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3235" y="181985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Advanced SQL Implementation &amp; Performance Tuning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3235" y="2353090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Domain: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Education</a:t>
            </a:r>
            <a:endParaRPr lang="en-US" sz="1600" dirty="0">
              <a:latin typeface="Bodoni MT" panose="02070603080606020203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Database: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MySQL</a:t>
            </a:r>
            <a:endParaRPr lang="en-US" sz="1600" dirty="0">
              <a:latin typeface="Bodoni MT" panose="02070603080606020203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Design: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3NF Relational Database</a:t>
            </a:r>
            <a:endParaRPr lang="en-US" sz="1600" dirty="0">
              <a:latin typeface="Bodoni MT" panose="02070603080606020203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Purpose: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Manage student academic information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2131" y="3421583"/>
            <a:ext cx="8312892" cy="72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Manages students, courses, faculty, examinations, attendance,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and results.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29109"/>
            <a:ext cx="5319083" cy="5319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0362F-AABA-367C-5BB2-4657221EE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0" y="45371"/>
            <a:ext cx="1744722" cy="11206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80E6D0-B8B1-24CF-0EAF-EA3DAF5E0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6386" y="6404920"/>
            <a:ext cx="1775614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5622" y="49904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System Architecture &amp; Tools</a:t>
            </a:r>
            <a:endParaRPr lang="en-US" sz="200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57" y="898746"/>
            <a:ext cx="9823645" cy="4203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3249148"/>
            <a:ext cx="1642671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Connect Server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55302" y="3766145"/>
            <a:ext cx="1642671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Authenticate to MySQL database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24840" y="4116469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Tables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807230" y="4504296"/>
            <a:ext cx="1642670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Browse and query tables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03632" y="1338051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Workbench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03632" y="1715844"/>
            <a:ext cx="1642671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Open MySQL Workbench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01093" y="1338051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01093" y="1715844"/>
            <a:ext cx="1642670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Select target schema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61475" y="526290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MySQL is used to store and manage all student data.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2707" y="5619364"/>
            <a:ext cx="5410759" cy="478234"/>
          </a:xfrm>
          <a:prstGeom prst="roundRect">
            <a:avLst>
              <a:gd name="adj" fmla="val 17786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826769" y="561936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MySQL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8859" y="5896648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Database server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01850" y="5602452"/>
            <a:ext cx="5410759" cy="478234"/>
          </a:xfrm>
          <a:prstGeom prst="roundRect">
            <a:avLst>
              <a:gd name="adj" fmla="val 17786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6196303" y="5602452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MySQL Workbench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640" y="587631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GUI tool</a:t>
            </a:r>
            <a:endParaRPr lang="en-US" sz="1100" dirty="0">
              <a:latin typeface="Bodoni MT" panose="020706030806060202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37861" y="6166098"/>
            <a:ext cx="5410759" cy="478234"/>
          </a:xfrm>
          <a:prstGeom prst="roundRect">
            <a:avLst>
              <a:gd name="adj" fmla="val 17786"/>
            </a:avLst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826767" y="6167565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SQL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94548" y="6429752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Query language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119461" y="6157601"/>
            <a:ext cx="5410759" cy="478234"/>
          </a:xfrm>
          <a:prstGeom prst="roundRect">
            <a:avLst>
              <a:gd name="adj" fmla="val 17786"/>
            </a:avLst>
          </a:prstGeom>
          <a:solidFill>
            <a:srgbClr val="84C1FA"/>
          </a:solidFill>
          <a:ln/>
        </p:spPr>
      </p:sp>
      <p:sp>
        <p:nvSpPr>
          <p:cNvPr id="23" name="Text 20"/>
          <p:cNvSpPr/>
          <p:nvPr/>
        </p:nvSpPr>
        <p:spPr>
          <a:xfrm>
            <a:off x="6213915" y="6211315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GitHub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37526" y="6412667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Version control</a:t>
            </a:r>
            <a:endParaRPr lang="en-US" sz="1100" dirty="0">
              <a:latin typeface="Bodoni MT" panose="02070603080606020203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E46486-3387-7D00-8610-9703DD04D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776" y="6579787"/>
            <a:ext cx="1068024" cy="2585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8943028-33DB-D9D7-609A-4DF6294B4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36"/>
            <a:ext cx="1454686" cy="934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2645" y="6782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3NF Relational Schema</a:t>
            </a:r>
            <a:endParaRPr lang="en-US" sz="200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110" y="1215775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5622" y="236452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Key Concepts</a:t>
            </a:r>
            <a:endParaRPr lang="en-US" sz="200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87588" y="2814024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Primary Key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— Uniquely identifies each record in a table.</a:t>
            </a:r>
            <a:endParaRPr lang="en-US" sz="1600" dirty="0">
              <a:latin typeface="Bodoni MT" panose="02070603080606020203" pitchFamily="18" charset="0"/>
            </a:endParaRPr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Foreign Key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— Connects related tables together.</a:t>
            </a:r>
            <a:endParaRPr lang="en-US" sz="1600" dirty="0">
              <a:latin typeface="Bodoni MT" panose="02070603080606020203" pitchFamily="18" charset="0"/>
            </a:endParaRPr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3NF</a:t>
            </a: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— Third Normal Form reduces data redundancy and improves data integrity.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3DF25-73FF-6E7B-F046-17E22AB07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6386" y="6438864"/>
            <a:ext cx="1775614" cy="419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C50AE-2246-32E7-EE8F-FB3AD45F1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" y="0"/>
            <a:ext cx="1625343" cy="1043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96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Advanced SQL Queries</a:t>
            </a:r>
            <a:endParaRPr lang="en-US" sz="240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40123"/>
            <a:ext cx="10868745" cy="744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150" y="1395909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51613" y="1276846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INNER JOIN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51613" y="1519436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Combines related data from two tables.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5722"/>
            <a:ext cx="10868745" cy="744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9150" y="2221508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51613" y="2102445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LEFT JOIN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251613" y="2345035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Shows all students, even without enrollment.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91321"/>
            <a:ext cx="10868745" cy="744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9150" y="304710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251613" y="2928045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SELF JOIN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251613" y="3170634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Compares faculty within the same department.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16920"/>
            <a:ext cx="10868745" cy="744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9150" y="3872706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251613" y="3753644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Correlated Subquery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251613" y="3996234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Compares student marks with course average.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42520"/>
            <a:ext cx="10868745" cy="7442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9150" y="4698305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1251613" y="4579243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GROUP BY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251613" y="4821833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Creates group-wise results.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68119"/>
            <a:ext cx="10868745" cy="7442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9150" y="5523905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6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251613" y="5404842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HAVING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251613" y="5647432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Filters grouped results.</a:t>
            </a:r>
            <a:endParaRPr lang="en-US" sz="1050" dirty="0">
              <a:latin typeface="Bodoni MT" panose="02070603080606020203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61475" y="6103938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Used SQL to generate useful academic reports.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8092C7-DF16-79C4-C8B0-B90E67415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4191" y="6403304"/>
            <a:ext cx="1775614" cy="4191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FF5DFD-1979-92B8-1397-12F0B106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451"/>
            <a:ext cx="975411" cy="626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60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Database Automation</a:t>
            </a:r>
            <a:endParaRPr lang="en-US" sz="2800" b="1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97518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Stored Procedure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38343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EnrollStudent()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8155" y="272008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Checks if student exists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Checks if course exists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Checks faculty availability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Creates enrollment record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48756" y="19824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Trigger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48756" y="234920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Marks → Automatic Grade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06833" y="263380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Pass / Fail / Pending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956" y="19537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Views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956" y="2270461"/>
            <a:ext cx="5203794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vw_student_performance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vw_course_performance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2895" y="44159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Procedures perform tasks, Triggers perform automatic actions, and Views simplify reporting.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9C6125-E823-2BDB-8FD1-67469355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386" y="6358872"/>
            <a:ext cx="1775614" cy="4191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57E8F1-6AD3-45C1-AC17-1259687A3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0" y="-9766"/>
            <a:ext cx="1171890" cy="752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56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Performance Tuning</a:t>
            </a:r>
            <a:endParaRPr lang="en-US" sz="37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65876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Without Index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314305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EXPLAIN → Full table scan → Slow query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984" y="404107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With Index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4411407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EXPLAIN → Index scan → Fast query</a:t>
            </a:r>
            <a:endParaRPr lang="en-US" sz="145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Indexes help MySQL find required data efficiently.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32776" y="265876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Indexes Created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32776" y="3143052"/>
            <a:ext cx="5203794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idx_enrollment_faculty_date</a:t>
            </a: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(FacultyID, EnrolledOn)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idx_examination_type_date</a:t>
            </a: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(ExamType, ExamDate)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45224" y="41887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EXPLAIN Commands</a:t>
            </a:r>
            <a:endParaRPr lang="en-US" sz="1850" b="1" dirty="0">
              <a:latin typeface="Bodoni MT" panose="020706030806060202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32776" y="4663958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EXPLAIN</a:t>
            </a: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— Shows the query execution plan</a:t>
            </a:r>
            <a:endParaRPr lang="en-US" sz="1450" dirty="0">
              <a:latin typeface="Bodoni MT" panose="020706030806060202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E306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EXPLAIN ANALYZE</a:t>
            </a: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 — Shows actual execution details</a:t>
            </a:r>
            <a:endParaRPr lang="en-US" sz="1450" dirty="0">
              <a:latin typeface="Bodoni MT" panose="020706030806060202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3237DB-2503-7FB6-275F-95E4E9E41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386" y="6381732"/>
            <a:ext cx="1775614" cy="419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02F021-C7E8-7B0D-A1B2-AA600140C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0" y="-9766"/>
            <a:ext cx="1206428" cy="774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10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Live MySQL Demonstration</a:t>
            </a:r>
            <a:endParaRPr lang="en-US" sz="37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5775" y="19984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Demonstration using MySQL Workbench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66471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1475" y="2960588"/>
            <a:ext cx="5339820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10584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Create / Show Database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90301" y="266471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90301" y="2960588"/>
            <a:ext cx="5339919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3105845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Run Complex JOIN Query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373181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475" y="4027686"/>
            <a:ext cx="5339820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417294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Execute Stored Procedure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90301" y="373181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0301" y="4027686"/>
            <a:ext cx="5339919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301" y="417294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Demonstrate Trigger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1475" y="479891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1475" y="5094784"/>
            <a:ext cx="5339820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240040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Run EXPLAIN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90301" y="479891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Bodoni MT" panose="02070603080606020203" pitchFamily="18" charset="0"/>
                <a:ea typeface="Instrument Sans" pitchFamily="34" charset="-122"/>
                <a:cs typeface="Instrument Sans" pitchFamily="34" charset="-120"/>
              </a:rPr>
              <a:t>06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90301" y="5094784"/>
            <a:ext cx="5339919" cy="254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5240040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Show Index &amp; EXPLAIN ANALYZE</a:t>
            </a:r>
            <a:endParaRPr lang="en-US" sz="1850" dirty="0">
              <a:latin typeface="Bodoni MT" panose="02070603080606020203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53B107-58EB-1A17-BF87-1FCE7BB06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121" y="6426224"/>
            <a:ext cx="1775614" cy="4191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BCA984C-953A-1E92-FBC8-F871E191F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0" y="-9766"/>
            <a:ext cx="1247893" cy="801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525" y="82564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Key Technical Concepts</a:t>
            </a:r>
            <a:endParaRPr lang="en-US" sz="2400" b="1" dirty="0">
              <a:latin typeface="Bodoni MT" panose="020706030806060202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438970"/>
            <a:ext cx="3512157" cy="1043682"/>
          </a:xfrm>
          <a:prstGeom prst="roundRect">
            <a:avLst>
              <a:gd name="adj" fmla="val 1528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725" y="1635224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3NF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7725" y="2011759"/>
            <a:ext cx="31196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Reduces data redundancy.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39720" y="1438970"/>
            <a:ext cx="3512157" cy="1043682"/>
          </a:xfrm>
          <a:prstGeom prst="roundRect">
            <a:avLst>
              <a:gd name="adj" fmla="val 1528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969" y="1635224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Primary Key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35969" y="2011759"/>
            <a:ext cx="31196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Uniquely identifies a record.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7964" y="1438970"/>
            <a:ext cx="3512157" cy="1043682"/>
          </a:xfrm>
          <a:prstGeom prst="roundRect">
            <a:avLst>
              <a:gd name="adj" fmla="val 1528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4214" y="1635224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Foreign Key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4214" y="2011759"/>
            <a:ext cx="31196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Connects tables together.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475" y="2648744"/>
            <a:ext cx="3512157" cy="1318320"/>
          </a:xfrm>
          <a:prstGeom prst="roundRect">
            <a:avLst>
              <a:gd name="adj" fmla="val 12098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25" y="2844998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ACID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7725" y="3221534"/>
            <a:ext cx="3119657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Atomicity, Consistency, Isolation, Durability.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39720" y="2648744"/>
            <a:ext cx="3512157" cy="1318320"/>
          </a:xfrm>
          <a:prstGeom prst="roundRect">
            <a:avLst>
              <a:gd name="adj" fmla="val 12098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969" y="2844998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Index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35969" y="3221534"/>
            <a:ext cx="31196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Improves query performance.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17964" y="2648744"/>
            <a:ext cx="3512157" cy="1318320"/>
          </a:xfrm>
          <a:prstGeom prst="roundRect">
            <a:avLst>
              <a:gd name="adj" fmla="val 12098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4214" y="2844998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EXPLAIN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14214" y="3221534"/>
            <a:ext cx="31196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Shows how MySQL plans a query.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1475" y="4133155"/>
            <a:ext cx="10868646" cy="1043682"/>
          </a:xfrm>
          <a:prstGeom prst="roundRect">
            <a:avLst>
              <a:gd name="adj" fmla="val 1528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25" y="4329410"/>
            <a:ext cx="104761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Bodoni MT" panose="02070603080606020203" pitchFamily="18" charset="0"/>
                <a:ea typeface="Instrument Sans SemiBold" pitchFamily="34" charset="-122"/>
                <a:cs typeface="Instrument Sans SemiBold" pitchFamily="34" charset="-120"/>
              </a:rPr>
              <a:t>Trigger</a:t>
            </a:r>
            <a:endParaRPr lang="en-US" sz="1700" dirty="0">
              <a:latin typeface="Bodoni MT" panose="020706030806060202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7725" y="4705945"/>
            <a:ext cx="1047614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Bodoni MT" panose="02070603080606020203" pitchFamily="18" charset="0"/>
                <a:ea typeface="Instrument Sans Medium" pitchFamily="34" charset="-122"/>
                <a:cs typeface="Instrument Sans Medium" pitchFamily="34" charset="-120"/>
              </a:rPr>
              <a:t>Automatically acts when data changes.</a:t>
            </a:r>
            <a:endParaRPr lang="en-US" sz="1350" dirty="0">
              <a:latin typeface="Bodoni MT" panose="020706030806060202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11095" y="6148288"/>
            <a:ext cx="106029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91C53"/>
                </a:solidFill>
                <a:latin typeface="Bodoni MT" panose="02070603080606020203" pitchFamily="18" charset="0"/>
                <a:ea typeface="Instrument Sans Bold" pitchFamily="34" charset="-122"/>
                <a:cs typeface="Instrument Sans Bold" pitchFamily="34" charset="-120"/>
              </a:rPr>
              <a:t>Thank You</a:t>
            </a:r>
            <a:endParaRPr lang="en-US" sz="2750" dirty="0">
              <a:latin typeface="Bodoni MT" panose="020706030806060202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1475" y="5363666"/>
            <a:ext cx="19050" cy="941288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164947-F090-AE26-13F5-B338EC24CEF7}"/>
              </a:ext>
            </a:extLst>
          </p:cNvPr>
          <p:cNvSpPr txBox="1"/>
          <p:nvPr/>
        </p:nvSpPr>
        <p:spPr>
          <a:xfrm>
            <a:off x="5608320" y="672084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Bodoni MT" panose="02070603080606020203" pitchFamily="18" charset="0"/>
            </a:endParaRPr>
          </a:p>
          <a:p>
            <a:endParaRPr lang="en-IN" dirty="0">
              <a:latin typeface="Bodoni MT" panose="02070603080606020203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9B96151-C8CF-E06B-2597-A164EABA0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386" y="6408204"/>
            <a:ext cx="1775614" cy="4191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1581120-CDBC-BFFC-8FCB-C0BC42DE5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0" y="-9766"/>
            <a:ext cx="1048624" cy="6735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409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Bodoni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naushad pathan</cp:lastModifiedBy>
  <cp:revision>2</cp:revision>
  <dcterms:created xsi:type="dcterms:W3CDTF">2026-09-23T22:46:19Z</dcterms:created>
  <dcterms:modified xsi:type="dcterms:W3CDTF">2026-09-24T03:33:37Z</dcterms:modified>
</cp:coreProperties>
</file>